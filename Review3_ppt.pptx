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sldIdLst>
    <p:sldId id="256" r:id="rId2"/>
    <p:sldId id="257" r:id="rId3"/>
    <p:sldId id="258" r:id="rId4"/>
    <p:sldId id="259" r:id="rId5"/>
    <p:sldId id="261" r:id="rId6"/>
    <p:sldId id="265" r:id="rId7"/>
    <p:sldId id="272" r:id="rId8"/>
    <p:sldId id="273" r:id="rId9"/>
    <p:sldId id="274" r:id="rId10"/>
    <p:sldId id="275" r:id="rId11"/>
    <p:sldId id="276" r:id="rId12"/>
    <p:sldId id="277" r:id="rId13"/>
    <p:sldId id="260" r:id="rId14"/>
    <p:sldId id="262" r:id="rId15"/>
    <p:sldId id="263" r:id="rId16"/>
    <p:sldId id="266" r:id="rId17"/>
    <p:sldId id="267" r:id="rId18"/>
    <p:sldId id="268" r:id="rId19"/>
    <p:sldId id="269" r:id="rId20"/>
    <p:sldId id="270" r:id="rId21"/>
    <p:sldId id="271" r:id="rId22"/>
    <p:sldId id="278" r:id="rId23"/>
    <p:sldId id="279" r:id="rId24"/>
    <p:sldId id="264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C20767-19D5-4170-8695-A2A47C55A98A}" v="22" dt="2025-11-12T18:10:53.90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6693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08722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227083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52575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388932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620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60970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0170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5218789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72986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13426203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877739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462126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24579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334319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7840692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30800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7BBA13-EEB1-45DF-9899-A395243E4327}" type="datetimeFigureOut">
              <a:rPr lang="en-SG" smtClean="0"/>
              <a:t>13/11/2025</a:t>
            </a:fld>
            <a:endParaRPr lang="en-SG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77D46C-58FE-4D61-82B2-B3DA5190B5E9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2084452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8DE556-2661-4F33-DFC8-747D620F82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72929"/>
            <a:ext cx="9144000" cy="1256070"/>
          </a:xfrm>
        </p:spPr>
        <p:txBody>
          <a:bodyPr>
            <a:normAutofit fontScale="90000"/>
          </a:bodyPr>
          <a:lstStyle/>
          <a:p>
            <a:r>
              <a:rPr lang="en-US" sz="3600" dirty="0"/>
              <a:t>ACTF: An Efficient Lossless Compression Algorithm for Time Series Floating Point Data</a:t>
            </a:r>
            <a:endParaRPr lang="en-SG" sz="36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483B05B-E697-44DC-385A-E6554B70A442}"/>
              </a:ext>
            </a:extLst>
          </p:cNvPr>
          <p:cNvSpPr txBox="1"/>
          <p:nvPr/>
        </p:nvSpPr>
        <p:spPr>
          <a:xfrm>
            <a:off x="2133600" y="1061884"/>
            <a:ext cx="8386916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b="1" dirty="0">
                <a:latin typeface="Book Antiqua" panose="02040602050305030304" pitchFamily="18" charset="0"/>
              </a:rPr>
              <a:t>CSI3019 – ADVANCED DATA COMPRESSION TECHNIQUES</a:t>
            </a:r>
            <a:endParaRPr lang="en-IN" sz="2000" b="1" dirty="0">
              <a:latin typeface="Book Antiqua" panose="02040602050305030304" pitchFamily="18" charset="0"/>
            </a:endParaRPr>
          </a:p>
          <a:p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F637F27-1122-1881-24F4-16CA91ED79F4}"/>
              </a:ext>
            </a:extLst>
          </p:cNvPr>
          <p:cNvSpPr txBox="1"/>
          <p:nvPr/>
        </p:nvSpPr>
        <p:spPr>
          <a:xfrm>
            <a:off x="7285703" y="3903406"/>
            <a:ext cx="361827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MEMBERS:</a:t>
            </a:r>
          </a:p>
          <a:p>
            <a:r>
              <a:rPr lang="en-IN" b="1" dirty="0"/>
              <a:t>22MID0012 SUVATHI S</a:t>
            </a:r>
          </a:p>
          <a:p>
            <a:r>
              <a:rPr lang="en-IN" b="1" dirty="0"/>
              <a:t>22MID0025 HARITHA R</a:t>
            </a:r>
          </a:p>
          <a:p>
            <a:r>
              <a:rPr lang="en-IN" b="1" dirty="0"/>
              <a:t>22MID0308 SUJITHA T</a:t>
            </a:r>
          </a:p>
          <a:p>
            <a:r>
              <a:rPr lang="en-IN" b="1" dirty="0"/>
              <a:t>22MID0319 SHRINIDHI K</a:t>
            </a:r>
          </a:p>
          <a:p>
            <a:r>
              <a:rPr lang="en-IN" b="1" dirty="0"/>
              <a:t>22MID0339 RAKSHANA B</a:t>
            </a:r>
          </a:p>
        </p:txBody>
      </p:sp>
    </p:spTree>
    <p:extLst>
      <p:ext uri="{BB962C8B-B14F-4D97-AF65-F5344CB8AC3E}">
        <p14:creationId xmlns:p14="http://schemas.microsoft.com/office/powerpoint/2010/main" val="160968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6E6B0-0EE5-FB4D-FE1E-9705F9FA1D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 </a:t>
            </a:r>
            <a:r>
              <a:rPr lang="en-SG" b="1" dirty="0"/>
              <a:t>Abstract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90CD7-9C98-794E-669E-81D1E4CDE3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3394" y="1612490"/>
            <a:ext cx="10137058" cy="3755923"/>
          </a:xfrm>
        </p:spPr>
        <p:txBody>
          <a:bodyPr>
            <a:normAutofit/>
          </a:bodyPr>
          <a:lstStyle/>
          <a:p>
            <a:r>
              <a:rPr lang="en-US" dirty="0"/>
              <a:t> </a:t>
            </a:r>
            <a:r>
              <a:rPr lang="en-US" b="1" dirty="0"/>
              <a:t>Growth of time-series floating-point data in IoT, servers, finance, etc.</a:t>
            </a:r>
          </a:p>
          <a:p>
            <a:r>
              <a:rPr lang="en-US" b="1" dirty="0"/>
              <a:t>Challenge: Large storage, high transmission cost, and computation overhead.</a:t>
            </a:r>
          </a:p>
          <a:p>
            <a:r>
              <a:rPr lang="en-US" b="1" dirty="0"/>
              <a:t> Solution: ACTF (Adaptive Compression with Triple Features)</a:t>
            </a:r>
          </a:p>
          <a:p>
            <a:pPr marL="0" indent="0">
              <a:buNone/>
            </a:pPr>
            <a:r>
              <a:rPr lang="en-US" b="1" dirty="0"/>
              <a:t> – a novel lossless compression algorithm.</a:t>
            </a:r>
          </a:p>
          <a:p>
            <a:r>
              <a:rPr lang="en-US" b="1" dirty="0"/>
              <a:t> Combines data preprocessing, new coding strategies, and feature refinement.</a:t>
            </a:r>
          </a:p>
          <a:p>
            <a:r>
              <a:rPr lang="en-US" b="1" dirty="0"/>
              <a:t> Achieves +12.25% compression ratio and +27.21% efficiency compared to Gorilla, Chimp, Chimp128.</a:t>
            </a:r>
            <a:endParaRPr lang="en-SG" b="1" dirty="0"/>
          </a:p>
        </p:txBody>
      </p:sp>
    </p:spTree>
    <p:extLst>
      <p:ext uri="{BB962C8B-B14F-4D97-AF65-F5344CB8AC3E}">
        <p14:creationId xmlns:p14="http://schemas.microsoft.com/office/powerpoint/2010/main" val="260179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23E8915-D2AA-4327-A45A-972C3CA957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8302FC3C-9804-4950-B721-5FD704BA60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12188952" cy="6858000"/>
          </a:xfrm>
          <a:prstGeom prst="rect">
            <a:avLst/>
          </a:prstGeom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B9695BD-ECF6-49CA-8877-8C493193C6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828800"/>
            <a:ext cx="0" cy="3200400"/>
          </a:xfrm>
          <a:prstGeom prst="line">
            <a:avLst/>
          </a:prstGeom>
          <a:ln w="1905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>
            <a:extLst>
              <a:ext uri="{FF2B5EF4-FFF2-40B4-BE49-F238E27FC236}">
                <a16:creationId xmlns:a16="http://schemas.microsoft.com/office/drawing/2014/main" id="{3BC6EBB2-9BDC-4075-BA6B-43A9FBF9C8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228080"/>
            <a:ext cx="993734" cy="762000"/>
          </a:xfrm>
          <a:prstGeom prst="rect">
            <a:avLst/>
          </a:prstGeom>
        </p:spPr>
      </p:pic>
      <p:sp>
        <p:nvSpPr>
          <p:cNvPr id="16" name="Freeform 5">
            <a:extLst>
              <a:ext uri="{FF2B5EF4-FFF2-40B4-BE49-F238E27FC236}">
                <a16:creationId xmlns:a16="http://schemas.microsoft.com/office/drawing/2014/main" id="{F3798573-F27B-47EB-8EA4-7EE34954C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-1588" y="0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F20FBF-8B15-B66C-9FE3-0FC673296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rmAutofit/>
          </a:bodyPr>
          <a:lstStyle/>
          <a:p>
            <a:pPr algn="ctr"/>
            <a:r>
              <a:rPr lang="en-SG" sz="3900" b="1" dirty="0"/>
              <a:t>Existing 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9AEC1A-E45C-ECAD-4B56-A65CC2F1C0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5861" y="804671"/>
            <a:ext cx="6399930" cy="5248657"/>
          </a:xfrm>
        </p:spPr>
        <p:txBody>
          <a:bodyPr anchor="ctr">
            <a:normAutofit/>
          </a:bodyPr>
          <a:lstStyle/>
          <a:p>
            <a:r>
              <a:rPr lang="en-SG" dirty="0"/>
              <a:t>Traditional Algorithms: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General compression (LZ4, Snappy, XZ, </a:t>
            </a:r>
            <a:r>
              <a:rPr lang="en-SG" dirty="0" err="1"/>
              <a:t>Brotli</a:t>
            </a:r>
            <a:r>
              <a:rPr lang="en-SG" dirty="0"/>
              <a:t>):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 Fast but not specialized for time-series floating points.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Gorilla (Facebook): XOR-based, efficient but weak with trailing zeros.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Chimp / Chimp128:Improved Gorilla with better XOR and leading zeros handling.</a:t>
            </a:r>
          </a:p>
          <a:p>
            <a:r>
              <a:rPr lang="en-SG" dirty="0"/>
              <a:t>Limitations: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Poor performance with long trailing zeros.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 High redundancy in edge cases.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SG" dirty="0"/>
              <a:t>Limited adaptability to varied datasets.</a:t>
            </a:r>
          </a:p>
        </p:txBody>
      </p:sp>
    </p:spTree>
    <p:extLst>
      <p:ext uri="{BB962C8B-B14F-4D97-AF65-F5344CB8AC3E}">
        <p14:creationId xmlns:p14="http://schemas.microsoft.com/office/powerpoint/2010/main" val="18565137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340683-9ACF-E199-AABC-4C9E74238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Limitations of Existing Work</a:t>
            </a:r>
            <a:endParaRPr lang="en-SG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87632-9A90-3C8D-D62B-918053962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2556" y="1258530"/>
            <a:ext cx="10009238" cy="498987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Trailing Zero Inefficiency</a:t>
            </a:r>
            <a:endParaRPr lang="en-US" dirty="0"/>
          </a:p>
          <a:p>
            <a:pPr lvl="1"/>
            <a:r>
              <a:rPr lang="en-US" dirty="0"/>
              <a:t>Both algorithms always output trailing zero fields (e.g., 6 bits in Gorilla), even when the trailing zero count is small or nearly zero—wastes bits.</a:t>
            </a:r>
          </a:p>
          <a:p>
            <a:r>
              <a:rPr lang="en-US" b="1" dirty="0"/>
              <a:t>Limited Handling of Leading Zeros</a:t>
            </a:r>
            <a:endParaRPr lang="en-US" dirty="0"/>
          </a:p>
          <a:p>
            <a:pPr lvl="1"/>
            <a:r>
              <a:rPr lang="en-US" dirty="0"/>
              <a:t>Fixed-length encoding for leading zeros (e.g., 5 bits in Gorilla) is not adaptive or efficient for datasets with frequent long zero runs.</a:t>
            </a:r>
          </a:p>
          <a:p>
            <a:r>
              <a:rPr lang="en-US" b="1" dirty="0"/>
              <a:t>Flag Structure Not Optimized</a:t>
            </a:r>
            <a:endParaRPr lang="en-US" dirty="0"/>
          </a:p>
          <a:p>
            <a:pPr lvl="1"/>
            <a:r>
              <a:rPr lang="en-US" dirty="0"/>
              <a:t>Shortest flag assigned to rare cases (exact value repeat), but most time-series values only partially repeat—opportunity for savings is missed.</a:t>
            </a:r>
          </a:p>
          <a:p>
            <a:r>
              <a:rPr lang="en-US" b="1" dirty="0"/>
              <a:t>Pattern Reuse is Limited</a:t>
            </a:r>
            <a:endParaRPr lang="en-US" dirty="0"/>
          </a:p>
          <a:p>
            <a:pPr lvl="1"/>
            <a:r>
              <a:rPr lang="en-US" dirty="0"/>
              <a:t>Only immediate previous value is used for compression; recurring XOR or center bit patterns beyond neighbor are ignored.</a:t>
            </a:r>
          </a:p>
          <a:p>
            <a:r>
              <a:rPr lang="en-US" b="1" dirty="0"/>
              <a:t>Struggles with High-Precision Data</a:t>
            </a:r>
            <a:endParaRPr lang="en-US" dirty="0"/>
          </a:p>
          <a:p>
            <a:pPr lvl="1"/>
            <a:r>
              <a:rPr lang="en-US" dirty="0"/>
              <a:t>On highly dynamic or high-precision data, savings are minimal due to lack of deeper pattern mining.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0677214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22A987-2D62-5C33-C50E-6B5C67EADD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23798"/>
          </a:xfrm>
        </p:spPr>
        <p:txBody>
          <a:bodyPr/>
          <a:lstStyle/>
          <a:p>
            <a:r>
              <a:rPr lang="en-IN" dirty="0"/>
              <a:t>WORK FLOW OF EXISTING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2628E-6061-0241-6E9D-1356CC72E3F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IN" dirty="0"/>
              <a:t>GORILLA</a:t>
            </a:r>
            <a:br>
              <a:rPr lang="en-IN" dirty="0"/>
            </a:b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E72E8D-3C99-5A5B-FAE3-0B5AB73DEC7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CHIMP</a:t>
            </a:r>
          </a:p>
          <a:p>
            <a:endParaRPr lang="en-IN" dirty="0"/>
          </a:p>
        </p:txBody>
      </p:sp>
      <p:pic>
        <p:nvPicPr>
          <p:cNvPr id="5" name="Picture 4" descr="A diagram of a computer program&#10;&#10;AI-generated content may be incorrect.">
            <a:extLst>
              <a:ext uri="{FF2B5EF4-FFF2-40B4-BE49-F238E27FC236}">
                <a16:creationId xmlns:a16="http://schemas.microsoft.com/office/drawing/2014/main" id="{3D283B54-7E1C-9A92-DED7-775ED4E98D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3312" y="2680023"/>
            <a:ext cx="4088120" cy="3725259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Picture 5" descr="A diagram of a computer code&#10;&#10;AI-generated content may be incorrect.">
            <a:extLst>
              <a:ext uri="{FF2B5EF4-FFF2-40B4-BE49-F238E27FC236}">
                <a16:creationId xmlns:a16="http://schemas.microsoft.com/office/drawing/2014/main" id="{8DD28E9C-DD95-4742-BC6C-A028931552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99355" y="2680024"/>
            <a:ext cx="5397910" cy="370676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034562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30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73BB6D-1D2E-7013-E78C-FCD002D3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Algorithm of Gorilla</a:t>
            </a:r>
          </a:p>
        </p:txBody>
      </p:sp>
      <p:sp>
        <p:nvSpPr>
          <p:cNvPr id="38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9" name="Freeform: Shape 38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7" name="Content Placeholder 6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000904A0-8ABD-6F44-61DA-482B3D754FB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471" y="233680"/>
            <a:ext cx="5551569" cy="6362831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57357374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BBF3A-8780-F9E2-961B-0001C9183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78242"/>
          </a:xfrm>
        </p:spPr>
        <p:txBody>
          <a:bodyPr/>
          <a:lstStyle/>
          <a:p>
            <a:r>
              <a:rPr lang="en-US" dirty="0"/>
              <a:t>Example of Gorilla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C11C4D-EDBB-2CFA-D568-C4EBC3104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2" y="1432561"/>
            <a:ext cx="9404722" cy="4772978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1) IEEE-754 Bit Representation    </a:t>
            </a:r>
          </a:p>
          <a:p>
            <a:r>
              <a:rPr lang="en-US" dirty="0"/>
              <a:t>729.9:       </a:t>
            </a:r>
          </a:p>
          <a:p>
            <a:r>
              <a:rPr lang="en-US" dirty="0"/>
              <a:t> Binary (64 bits):        0100000010000110110011110011001100110011001100110011001100110011        </a:t>
            </a:r>
          </a:p>
          <a:p>
            <a:r>
              <a:rPr lang="en-US" dirty="0"/>
              <a:t>Hex: 0x4086cf3333333333    </a:t>
            </a:r>
          </a:p>
          <a:p>
            <a:r>
              <a:rPr lang="en-US" dirty="0"/>
              <a:t>731.3:        </a:t>
            </a:r>
          </a:p>
          <a:p>
            <a:r>
              <a:rPr lang="en-US" dirty="0"/>
              <a:t>Binary (64 bits):        0100000010000110110110100110011001100110011001100110011001100110           </a:t>
            </a:r>
          </a:p>
          <a:p>
            <a:r>
              <a:rPr lang="en-US" dirty="0"/>
              <a:t>Hex: 0x4086da6666666666</a:t>
            </a:r>
          </a:p>
          <a:p>
            <a:pPr marL="0" indent="0">
              <a:buNone/>
            </a:pPr>
            <a:r>
              <a:rPr lang="en-US" dirty="0"/>
              <a:t>2) XOR of Values    </a:t>
            </a:r>
          </a:p>
          <a:p>
            <a:r>
              <a:rPr lang="en-US" dirty="0"/>
              <a:t>XOR:        </a:t>
            </a:r>
          </a:p>
          <a:p>
            <a:r>
              <a:rPr lang="en-US" dirty="0"/>
              <a:t>Binary (64 bits):        0000000000000000000101010101010101010101010101010101010101010101            </a:t>
            </a:r>
          </a:p>
          <a:p>
            <a:r>
              <a:rPr lang="en-US" dirty="0"/>
              <a:t>Hex: 0x155555555555        </a:t>
            </a:r>
          </a:p>
          <a:p>
            <a:r>
              <a:rPr lang="en-US" dirty="0"/>
              <a:t>Shows the differing bits between the two floats.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6859268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17E6F-C8C7-E397-58E5-F67F3AA6B6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320800"/>
            <a:ext cx="9404723" cy="5374639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3. Leading/Trailing Zeros and Meaningful Bits    </a:t>
            </a:r>
          </a:p>
          <a:p>
            <a:r>
              <a:rPr lang="en-US" dirty="0"/>
              <a:t>Leading Zeros: 19    </a:t>
            </a:r>
          </a:p>
          <a:p>
            <a:r>
              <a:rPr lang="en-US" dirty="0"/>
              <a:t>Trailing Zeros: 0    </a:t>
            </a:r>
          </a:p>
          <a:p>
            <a:r>
              <a:rPr lang="en-US" dirty="0"/>
              <a:t>Meaningful (center) bits: 64−19−0=45    </a:t>
            </a:r>
          </a:p>
          <a:p>
            <a:r>
              <a:rPr lang="en-US" dirty="0"/>
              <a:t>Center bits extracted:101010101010101010101010101010101010101010101</a:t>
            </a:r>
          </a:p>
          <a:p>
            <a:pPr marL="0" indent="0">
              <a:buNone/>
            </a:pPr>
            <a:r>
              <a:rPr lang="en-SG" dirty="0"/>
              <a:t>4. Gorilla Encoder Actions    </a:t>
            </a:r>
          </a:p>
          <a:p>
            <a:r>
              <a:rPr lang="en-SG" dirty="0"/>
              <a:t>First Value (729.9):        </a:t>
            </a:r>
          </a:p>
          <a:p>
            <a:r>
              <a:rPr lang="en-SG" dirty="0"/>
              <a:t>Stored raw, 64 bits    </a:t>
            </a:r>
          </a:p>
          <a:p>
            <a:r>
              <a:rPr lang="en-SG" dirty="0"/>
              <a:t>Second Value (731.3):        </a:t>
            </a:r>
          </a:p>
          <a:p>
            <a:r>
              <a:rPr lang="en-SG" dirty="0"/>
              <a:t>XOR ≠ 0, so write control bit '1' (changed value)        </a:t>
            </a:r>
          </a:p>
          <a:p>
            <a:r>
              <a:rPr lang="en-SG" dirty="0"/>
              <a:t>Previous window doesn't fit, so write additional control bit '1' (new window)       </a:t>
            </a:r>
          </a:p>
          <a:p>
            <a:r>
              <a:rPr lang="en-SG" dirty="0"/>
              <a:t>Write leading zero count (10011), meaningful bits length minus 1 (101100)        </a:t>
            </a:r>
          </a:p>
          <a:p>
            <a:r>
              <a:rPr lang="en-SG" dirty="0"/>
              <a:t>Write 45 meaningful </a:t>
            </a:r>
            <a:r>
              <a:rPr lang="en-SG" dirty="0" err="1"/>
              <a:t>center</a:t>
            </a:r>
            <a:r>
              <a:rPr lang="en-SG" dirty="0"/>
              <a:t> bits (101010...)</a:t>
            </a:r>
          </a:p>
        </p:txBody>
      </p:sp>
    </p:spTree>
    <p:extLst>
      <p:ext uri="{BB962C8B-B14F-4D97-AF65-F5344CB8AC3E}">
        <p14:creationId xmlns:p14="http://schemas.microsoft.com/office/powerpoint/2010/main" val="29003557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F549AC-B028-3EA3-9EED-2BCD9BC543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6111" y="1371600"/>
            <a:ext cx="9404723" cy="5323841"/>
          </a:xfrm>
        </p:spPr>
        <p:txBody>
          <a:bodyPr/>
          <a:lstStyle/>
          <a:p>
            <a:pPr marL="0" indent="0">
              <a:buNone/>
            </a:pPr>
            <a:r>
              <a:rPr lang="en-SG" dirty="0"/>
              <a:t>5. Final Compressed Bitstream    </a:t>
            </a:r>
          </a:p>
          <a:p>
            <a:r>
              <a:rPr lang="en-SG" dirty="0"/>
              <a:t>First value: 64 bits    </a:t>
            </a:r>
          </a:p>
          <a:p>
            <a:r>
              <a:rPr lang="en-SG" dirty="0"/>
              <a:t>Second value: Control (11), leading (10011), length (101100), </a:t>
            </a:r>
            <a:r>
              <a:rPr lang="en-SG" dirty="0" err="1"/>
              <a:t>center</a:t>
            </a:r>
            <a:r>
              <a:rPr lang="en-SG" dirty="0"/>
              <a:t> bits (45 bits)    </a:t>
            </a:r>
          </a:p>
          <a:p>
            <a:r>
              <a:rPr lang="en-SG" dirty="0"/>
              <a:t>Total compressed stream length: 122 bits (vs 128 bits raw!)</a:t>
            </a:r>
          </a:p>
          <a:p>
            <a:pPr marL="0" indent="0">
              <a:buNone/>
            </a:pPr>
            <a:r>
              <a:rPr lang="en-SG" dirty="0"/>
              <a:t>6. Decoding/Verification    </a:t>
            </a:r>
          </a:p>
          <a:p>
            <a:r>
              <a:rPr lang="en-SG" dirty="0"/>
              <a:t>Decoded stream yields exactly 729.9 and 731.3 (lossless and bitwise accurate)</a:t>
            </a:r>
          </a:p>
          <a:p>
            <a:r>
              <a:rPr lang="en-SG" dirty="0"/>
              <a:t>At A Glance:    </a:t>
            </a:r>
          </a:p>
          <a:p>
            <a:r>
              <a:rPr lang="en-SG" dirty="0"/>
              <a:t>Raw 2 floats: 128 bits    </a:t>
            </a:r>
          </a:p>
          <a:p>
            <a:r>
              <a:rPr lang="en-SG" dirty="0"/>
              <a:t>Gorilla compressed: 122 bits    </a:t>
            </a:r>
          </a:p>
          <a:p>
            <a:r>
              <a:rPr lang="en-SG" dirty="0"/>
              <a:t>Compression achieved!</a:t>
            </a:r>
          </a:p>
        </p:txBody>
      </p:sp>
    </p:spTree>
    <p:extLst>
      <p:ext uri="{BB962C8B-B14F-4D97-AF65-F5344CB8AC3E}">
        <p14:creationId xmlns:p14="http://schemas.microsoft.com/office/powerpoint/2010/main" val="2701335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44" name="Picture 43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45" name="Oval 44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46" name="Picture 4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E9C2E0F-D5FF-66BF-2048-4B200F1D9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0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Algorithm of Chimp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2FB2EB0-4367-9E42-61C3-7C552E89FC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2412" y="109985"/>
            <a:ext cx="4756468" cy="6474495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23425459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577636-C3AF-103E-4E8E-97CFA2B64A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6802"/>
          </a:xfrm>
        </p:spPr>
        <p:txBody>
          <a:bodyPr/>
          <a:lstStyle/>
          <a:p>
            <a:r>
              <a:rPr lang="en-US" dirty="0"/>
              <a:t>Example Of Chimp 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8553C7-8313-B275-7661-98BAFC2D3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381760"/>
            <a:ext cx="9880630" cy="5252720"/>
          </a:xfrm>
        </p:spPr>
        <p:txBody>
          <a:bodyPr>
            <a:normAutofit fontScale="85000" lnSpcReduction="20000"/>
          </a:bodyPr>
          <a:lstStyle/>
          <a:p>
            <a:r>
              <a:rPr lang="en-SG" dirty="0"/>
              <a:t>Initial State</a:t>
            </a:r>
          </a:p>
          <a:p>
            <a:r>
              <a:rPr lang="en-SG" dirty="0" err="1"/>
              <a:t>pr_value</a:t>
            </a:r>
            <a:r>
              <a:rPr lang="en-SG" dirty="0"/>
              <a:t>: Undefined  </a:t>
            </a:r>
          </a:p>
          <a:p>
            <a:r>
              <a:rPr lang="en-SG" dirty="0" err="1"/>
              <a:t>pr_lead</a:t>
            </a:r>
            <a:r>
              <a:rPr lang="en-SG" dirty="0"/>
              <a:t>:  Undefined</a:t>
            </a:r>
          </a:p>
          <a:p>
            <a:r>
              <a:rPr lang="en-US" b="1" dirty="0"/>
              <a:t>Timestamp 1 → Processing 729.9</a:t>
            </a:r>
            <a:endParaRPr lang="en-US" dirty="0"/>
          </a:p>
          <a:p>
            <a:r>
              <a:rPr lang="en-US" b="1" dirty="0"/>
              <a:t>Action: </a:t>
            </a:r>
            <a:r>
              <a:rPr lang="en-US" dirty="0"/>
              <a:t>This is the </a:t>
            </a:r>
            <a:r>
              <a:rPr lang="en-US" b="1" dirty="0"/>
              <a:t>first value</a:t>
            </a:r>
            <a:r>
              <a:rPr lang="en-US" dirty="0"/>
              <a:t>, so it is stored uncompressed.</a:t>
            </a:r>
          </a:p>
          <a:p>
            <a:r>
              <a:rPr lang="en-US" b="1" dirty="0"/>
              <a:t>State Update:</a:t>
            </a:r>
          </a:p>
          <a:p>
            <a:r>
              <a:rPr lang="en-US" dirty="0" err="1"/>
              <a:t>pr_value</a:t>
            </a:r>
            <a:r>
              <a:rPr lang="en-US" dirty="0"/>
              <a:t> = 729.9  </a:t>
            </a:r>
          </a:p>
          <a:p>
            <a:r>
              <a:rPr lang="en-US" dirty="0" err="1"/>
              <a:t>s.first</a:t>
            </a:r>
            <a:r>
              <a:rPr lang="en-US" dirty="0"/>
              <a:t>  = False</a:t>
            </a:r>
          </a:p>
          <a:p>
            <a:r>
              <a:rPr lang="en-SG" dirty="0"/>
              <a:t>Output: 01000000 10000110 11001111 00110011 00110011 00110011 00110011 00110011  (64 bits)</a:t>
            </a:r>
          </a:p>
          <a:p>
            <a:r>
              <a:rPr lang="en-SG" b="1" dirty="0"/>
              <a:t>Timestamp 2 → Processing 731.3</a:t>
            </a:r>
            <a:endParaRPr lang="en-SG" dirty="0"/>
          </a:p>
          <a:p>
            <a:r>
              <a:rPr lang="en-SG" b="1" dirty="0"/>
              <a:t>Inputs:</a:t>
            </a:r>
            <a:endParaRPr lang="en-SG" dirty="0"/>
          </a:p>
          <a:p>
            <a:r>
              <a:rPr lang="en-US" dirty="0"/>
              <a:t>value      = 731.3  </a:t>
            </a:r>
          </a:p>
          <a:p>
            <a:r>
              <a:rPr lang="en-US" dirty="0" err="1"/>
              <a:t>s.pr_value</a:t>
            </a:r>
            <a:r>
              <a:rPr lang="en-US" dirty="0"/>
              <a:t> = 729.9</a:t>
            </a:r>
          </a:p>
          <a:p>
            <a:r>
              <a:rPr lang="en-SG" dirty="0"/>
              <a:t>XOR Calculation (</a:t>
            </a:r>
            <a:r>
              <a:rPr lang="en-SG" dirty="0" err="1"/>
              <a:t>xored_value</a:t>
            </a:r>
            <a:r>
              <a:rPr lang="en-SG" dirty="0"/>
              <a:t>):</a:t>
            </a:r>
          </a:p>
          <a:p>
            <a:r>
              <a:rPr lang="en-SG" dirty="0"/>
              <a:t>731.3 ⊕ 729.9 =  0000000000000000000101010101010101010101010101010101010101010101</a:t>
            </a:r>
          </a:p>
          <a:p>
            <a:endParaRPr lang="en-SG" dirty="0"/>
          </a:p>
          <a:p>
            <a:endParaRPr lang="en-US" dirty="0"/>
          </a:p>
          <a:p>
            <a:endParaRPr lang="en-SG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032149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6A08FF-9C6B-4A06-5529-AA0B22436D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209040"/>
            <a:ext cx="10276870" cy="5196242"/>
          </a:xfrm>
        </p:spPr>
        <p:txBody>
          <a:bodyPr>
            <a:normAutofit fontScale="55000" lnSpcReduction="20000"/>
          </a:bodyPr>
          <a:lstStyle/>
          <a:p>
            <a:r>
              <a:rPr lang="en-SG" b="1" dirty="0"/>
              <a:t>Bit Counts:</a:t>
            </a:r>
          </a:p>
          <a:p>
            <a:r>
              <a:rPr lang="en-SG" dirty="0"/>
              <a:t>lead  = 19  </a:t>
            </a:r>
          </a:p>
          <a:p>
            <a:r>
              <a:rPr lang="en-SG" dirty="0"/>
              <a:t>trail = 0</a:t>
            </a:r>
          </a:p>
          <a:p>
            <a:r>
              <a:rPr lang="en-SG" dirty="0"/>
              <a:t>Algorithm Path (Referencing Pseudo-Code):</a:t>
            </a:r>
          </a:p>
          <a:p>
            <a:pPr marL="0" indent="0">
              <a:buNone/>
            </a:pPr>
            <a:r>
              <a:rPr lang="en-SG" dirty="0" err="1"/>
              <a:t>s.first</a:t>
            </a:r>
            <a:r>
              <a:rPr lang="en-SG" dirty="0"/>
              <a:t> is False  </a:t>
            </a:r>
          </a:p>
          <a:p>
            <a:pPr marL="0" indent="0">
              <a:buNone/>
            </a:pPr>
            <a:r>
              <a:rPr lang="en-SG" dirty="0"/>
              <a:t>trail &gt; 6 ? → 0 &gt; 6 → False → go to else (line 19)  </a:t>
            </a:r>
          </a:p>
          <a:p>
            <a:pPr marL="0" indent="0">
              <a:buNone/>
            </a:pPr>
            <a:r>
              <a:rPr lang="en-SG" dirty="0"/>
              <a:t>Write bit: 1  </a:t>
            </a:r>
          </a:p>
          <a:p>
            <a:pPr marL="0" indent="0">
              <a:buNone/>
            </a:pPr>
            <a:r>
              <a:rPr lang="en-SG" dirty="0"/>
              <a:t>lead == </a:t>
            </a:r>
            <a:r>
              <a:rPr lang="en-SG" dirty="0" err="1"/>
              <a:t>s.pr_lead</a:t>
            </a:r>
            <a:r>
              <a:rPr lang="en-SG" dirty="0"/>
              <a:t> ? → (19 == undefined) → False → go to else (line 24)  </a:t>
            </a:r>
          </a:p>
          <a:p>
            <a:pPr marL="0" indent="0">
              <a:buNone/>
            </a:pPr>
            <a:r>
              <a:rPr lang="en-SG" dirty="0"/>
              <a:t>Write bit: 1  </a:t>
            </a:r>
          </a:p>
          <a:p>
            <a:pPr marL="0" indent="0">
              <a:buNone/>
            </a:pPr>
            <a:r>
              <a:rPr lang="en-SG" dirty="0"/>
              <a:t>Write lead (19) in 3 bits → binary of 19 = 10011 → mapped/truncated → 100 (3 bits)  </a:t>
            </a:r>
          </a:p>
          <a:p>
            <a:pPr marL="0" indent="0">
              <a:buNone/>
            </a:pPr>
            <a:r>
              <a:rPr lang="en-SG" dirty="0"/>
              <a:t>Write </a:t>
            </a:r>
            <a:r>
              <a:rPr lang="en-SG" dirty="0" err="1"/>
              <a:t>xored_value</a:t>
            </a:r>
            <a:r>
              <a:rPr lang="en-SG" dirty="0"/>
              <a:t> for (64 − lead) bits → (64 − 19 = 45 bits)</a:t>
            </a:r>
          </a:p>
          <a:p>
            <a:r>
              <a:rPr lang="en-SG" dirty="0"/>
              <a:t>State Update:</a:t>
            </a:r>
          </a:p>
          <a:p>
            <a:r>
              <a:rPr lang="en-US" dirty="0" err="1"/>
              <a:t>s.pr_lead</a:t>
            </a:r>
            <a:r>
              <a:rPr lang="en-US" dirty="0"/>
              <a:t>  = 19  </a:t>
            </a:r>
          </a:p>
          <a:p>
            <a:r>
              <a:rPr lang="en-US" dirty="0" err="1"/>
              <a:t>s.pr_value</a:t>
            </a:r>
            <a:r>
              <a:rPr lang="en-US" dirty="0"/>
              <a:t> = 731.3</a:t>
            </a:r>
          </a:p>
          <a:p>
            <a:r>
              <a:rPr lang="en-SG" dirty="0"/>
              <a:t>Output: </a:t>
            </a:r>
            <a:r>
              <a:rPr lang="en-US" dirty="0"/>
              <a:t>1 (flag)  </a:t>
            </a:r>
          </a:p>
          <a:p>
            <a:r>
              <a:rPr lang="en-US" dirty="0"/>
              <a:t>+ 1 (flag)  </a:t>
            </a:r>
          </a:p>
          <a:p>
            <a:r>
              <a:rPr lang="en-US" dirty="0"/>
              <a:t>+ 100 (lead, 3 bits)  </a:t>
            </a:r>
          </a:p>
          <a:p>
            <a:r>
              <a:rPr lang="en-US" dirty="0"/>
              <a:t>+ [45 bits of XOR data]   </a:t>
            </a:r>
          </a:p>
          <a:p>
            <a:r>
              <a:rPr lang="en-US" dirty="0"/>
              <a:t>Total = 50 bits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198016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FE98CF-3D50-9C21-3435-31C037BFF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Proposed Methodology (ACTF)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AD715-6443-435B-4A0E-6094A97D91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2724" y="1415846"/>
            <a:ext cx="9037130" cy="4832554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/>
              <a:t>Step 1: Data Preprocessing</a:t>
            </a:r>
            <a:endParaRPr lang="en-US" dirty="0"/>
          </a:p>
          <a:p>
            <a:pPr lvl="1"/>
            <a:r>
              <a:rPr lang="en-US" dirty="0"/>
              <a:t>Pre-check for equality and encode repeats with a special flag ('00'), skipping unnecessary calculations.</a:t>
            </a:r>
          </a:p>
          <a:p>
            <a:pPr marL="0" indent="0">
              <a:buNone/>
            </a:pPr>
            <a:r>
              <a:rPr lang="en-US" b="1" dirty="0"/>
              <a:t>Step 2: Coding Category Expansion</a:t>
            </a:r>
            <a:endParaRPr lang="en-US" dirty="0"/>
          </a:p>
          <a:p>
            <a:pPr lvl="1"/>
            <a:r>
              <a:rPr lang="en-US" dirty="0"/>
              <a:t>Introduces new branches ('110', '111') for recurring center/XOR patterns, further saving space on repeating structures.</a:t>
            </a:r>
          </a:p>
          <a:p>
            <a:pPr marL="0" indent="0">
              <a:buNone/>
            </a:pPr>
            <a:r>
              <a:rPr lang="en-US" b="1" dirty="0"/>
              <a:t>Step 3: Feature Representation Refinement</a:t>
            </a:r>
            <a:endParaRPr lang="en-US" dirty="0"/>
          </a:p>
          <a:p>
            <a:pPr lvl="1"/>
            <a:r>
              <a:rPr lang="en-US" dirty="0"/>
              <a:t>Uses shorter fields and adaptive bit allocation for leading/trailing zeros, fitted to dataset statistics (e.g., restrict </a:t>
            </a:r>
            <a:r>
              <a:rPr lang="en-US" dirty="0" err="1"/>
              <a:t>L_count</a:t>
            </a:r>
            <a:r>
              <a:rPr lang="en-US" dirty="0"/>
              <a:t>, </a:t>
            </a:r>
            <a:r>
              <a:rPr lang="en-US" dirty="0" err="1"/>
              <a:t>T_count</a:t>
            </a:r>
            <a:r>
              <a:rPr lang="en-US" dirty="0"/>
              <a:t> for relevant cases).</a:t>
            </a:r>
          </a:p>
          <a:p>
            <a:pPr marL="0" indent="0">
              <a:buNone/>
            </a:pPr>
            <a:r>
              <a:rPr lang="en-US" b="1" dirty="0"/>
              <a:t>Step 4: Robust Edge-Case Handling</a:t>
            </a:r>
            <a:endParaRPr lang="en-US" dirty="0"/>
          </a:p>
          <a:p>
            <a:pPr lvl="1"/>
            <a:r>
              <a:rPr lang="en-US" dirty="0"/>
              <a:t>Optimizes long plateaus, recurring centers, and runs of zeros using custom flags and encoding, not present in Gorilla/Chimp.</a:t>
            </a:r>
          </a:p>
          <a:p>
            <a:pPr marL="0" indent="0">
              <a:buNone/>
            </a:pPr>
            <a:r>
              <a:rPr lang="en-US" b="1" dirty="0"/>
              <a:t>Step 5: Achieved Improvements</a:t>
            </a:r>
            <a:endParaRPr lang="en-US" dirty="0"/>
          </a:p>
          <a:p>
            <a:pPr lvl="1"/>
            <a:r>
              <a:rPr lang="en-US" dirty="0"/>
              <a:t>Higher compression ratios and faster (de)compression, especially for sensor, IoT, and scientific time series.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4871009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41D7D9-E424-F8BD-D752-57C7D235D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854741" cy="786147"/>
          </a:xfrm>
        </p:spPr>
        <p:txBody>
          <a:bodyPr/>
          <a:lstStyle/>
          <a:p>
            <a:r>
              <a:rPr lang="en-IN" dirty="0"/>
              <a:t>COMPRESSION WORKFLOW OF ACTF</a:t>
            </a:r>
          </a:p>
        </p:txBody>
      </p:sp>
      <p:pic>
        <p:nvPicPr>
          <p:cNvPr id="3" name="Picture 2" descr="A diagram of a flowchart&#10;&#10;AI-generated content may be incorrect.">
            <a:extLst>
              <a:ext uri="{FF2B5EF4-FFF2-40B4-BE49-F238E27FC236}">
                <a16:creationId xmlns:a16="http://schemas.microsoft.com/office/drawing/2014/main" id="{795DACAF-1A79-B285-CBC2-69D5075CE3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0787" y="1447571"/>
            <a:ext cx="3903407" cy="51302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485560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6EF28-C5D4-022E-46A1-16F94CC2D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52718"/>
            <a:ext cx="9441234" cy="923798"/>
          </a:xfrm>
        </p:spPr>
        <p:txBody>
          <a:bodyPr/>
          <a:lstStyle/>
          <a:p>
            <a:r>
              <a:rPr lang="en-IN" dirty="0"/>
              <a:t>DECOMPRESSION OF ACTF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4A8675A-90A1-8E14-3299-4C1DFA9BC5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58504" y="1462342"/>
            <a:ext cx="4869419" cy="4557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6358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41B68C77-138E-4BF7-A276-BD0C78A421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C268552-D473-46ED-B1B8-422042C4DE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4AC0CD9D-7610-4620-93B4-798CCD9AB5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B9238B3E-24AA-439A-B527-6C5DF6D721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69F01145-BEA3-4CBF-AA21-10077B948C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DE4D62F9-188E-4530-84C2-24BDEE4BEB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757B325C-3E35-45CF-9D07-3BCB281F3B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CD10C3-92F8-A1A6-EB30-74F0578624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1925" y="1325880"/>
            <a:ext cx="3352375" cy="3066507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0" i="0" kern="1200" dirty="0" err="1">
                <a:solidFill>
                  <a:srgbClr val="EBEBEB"/>
                </a:solidFill>
                <a:latin typeface="+mj-lt"/>
                <a:ea typeface="+mj-ea"/>
                <a:cs typeface="+mj-cs"/>
              </a:rPr>
              <a:t>Alogorithm</a:t>
            </a:r>
            <a:r>
              <a:rPr lang="en-US" sz="4600" b="0" i="0" kern="1200" dirty="0">
                <a:solidFill>
                  <a:srgbClr val="EBEBEB"/>
                </a:solidFill>
                <a:latin typeface="+mj-lt"/>
                <a:ea typeface="+mj-ea"/>
                <a:cs typeface="+mj-cs"/>
              </a:rPr>
              <a:t> of ACTF :</a:t>
            </a:r>
          </a:p>
        </p:txBody>
      </p:sp>
      <p:sp>
        <p:nvSpPr>
          <p:cNvPr id="24" name="Freeform 36">
            <a:extLst>
              <a:ext uri="{FF2B5EF4-FFF2-40B4-BE49-F238E27FC236}">
                <a16:creationId xmlns:a16="http://schemas.microsoft.com/office/drawing/2014/main" id="{C24BEC42-AFF3-40D1-93A2-A27A42E1E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463681" y="-1"/>
            <a:ext cx="559472" cy="3709642"/>
          </a:xfrm>
          <a:custGeom>
            <a:avLst/>
            <a:gdLst>
              <a:gd name="connsiteX0" fmla="*/ 0 w 559472"/>
              <a:gd name="connsiteY0" fmla="*/ 0 h 3709642"/>
              <a:gd name="connsiteX1" fmla="*/ 473952 w 559472"/>
              <a:gd name="connsiteY1" fmla="*/ 0 h 3709642"/>
              <a:gd name="connsiteX2" fmla="*/ 485840 w 559472"/>
              <a:gd name="connsiteY2" fmla="*/ 161194 h 3709642"/>
              <a:gd name="connsiteX3" fmla="*/ 523949 w 559472"/>
              <a:gd name="connsiteY3" fmla="*/ 3672197 h 3709642"/>
              <a:gd name="connsiteX4" fmla="*/ 454748 w 559472"/>
              <a:gd name="connsiteY4" fmla="*/ 3709642 h 3709642"/>
              <a:gd name="connsiteX5" fmla="*/ 448224 w 559472"/>
              <a:gd name="connsiteY5" fmla="*/ 3510471 h 3709642"/>
              <a:gd name="connsiteX6" fmla="*/ 443564 w 559472"/>
              <a:gd name="connsiteY6" fmla="*/ 3408563 h 3709642"/>
              <a:gd name="connsiteX7" fmla="*/ 438902 w 559472"/>
              <a:gd name="connsiteY7" fmla="*/ 3304407 h 3709642"/>
              <a:gd name="connsiteX8" fmla="*/ 433941 w 559472"/>
              <a:gd name="connsiteY8" fmla="*/ 3198777 h 3709642"/>
              <a:gd name="connsiteX9" fmla="*/ 427584 w 559472"/>
              <a:gd name="connsiteY9" fmla="*/ 3092510 h 3709642"/>
              <a:gd name="connsiteX10" fmla="*/ 420988 w 559472"/>
              <a:gd name="connsiteY10" fmla="*/ 2984390 h 3709642"/>
              <a:gd name="connsiteX11" fmla="*/ 414330 w 559472"/>
              <a:gd name="connsiteY11" fmla="*/ 2874401 h 3709642"/>
              <a:gd name="connsiteX12" fmla="*/ 406840 w 559472"/>
              <a:gd name="connsiteY12" fmla="*/ 2762980 h 3709642"/>
              <a:gd name="connsiteX13" fmla="*/ 397745 w 559472"/>
              <a:gd name="connsiteY13" fmla="*/ 2650566 h 3709642"/>
              <a:gd name="connsiteX14" fmla="*/ 389154 w 559472"/>
              <a:gd name="connsiteY14" fmla="*/ 2536612 h 3709642"/>
              <a:gd name="connsiteX15" fmla="*/ 379225 w 559472"/>
              <a:gd name="connsiteY15" fmla="*/ 2421642 h 3709642"/>
              <a:gd name="connsiteX16" fmla="*/ 368316 w 559472"/>
              <a:gd name="connsiteY16" fmla="*/ 2305627 h 3709642"/>
              <a:gd name="connsiteX17" fmla="*/ 357466 w 559472"/>
              <a:gd name="connsiteY17" fmla="*/ 2189233 h 3709642"/>
              <a:gd name="connsiteX18" fmla="*/ 344982 w 559472"/>
              <a:gd name="connsiteY18" fmla="*/ 2071473 h 3709642"/>
              <a:gd name="connsiteX19" fmla="*/ 332466 w 559472"/>
              <a:gd name="connsiteY19" fmla="*/ 1952216 h 3709642"/>
              <a:gd name="connsiteX20" fmla="*/ 319121 w 559472"/>
              <a:gd name="connsiteY20" fmla="*/ 1833776 h 3709642"/>
              <a:gd name="connsiteX21" fmla="*/ 304408 w 559472"/>
              <a:gd name="connsiteY21" fmla="*/ 1713948 h 3709642"/>
              <a:gd name="connsiteX22" fmla="*/ 288685 w 559472"/>
              <a:gd name="connsiteY22" fmla="*/ 1592703 h 3709642"/>
              <a:gd name="connsiteX23" fmla="*/ 273050 w 559472"/>
              <a:gd name="connsiteY23" fmla="*/ 1471451 h 3709642"/>
              <a:gd name="connsiteX24" fmla="*/ 255813 w 559472"/>
              <a:gd name="connsiteY24" fmla="*/ 1350328 h 3709642"/>
              <a:gd name="connsiteX25" fmla="*/ 237060 w 559472"/>
              <a:gd name="connsiteY25" fmla="*/ 1227080 h 3709642"/>
              <a:gd name="connsiteX26" fmla="*/ 218488 w 559472"/>
              <a:gd name="connsiteY26" fmla="*/ 1106065 h 3709642"/>
              <a:gd name="connsiteX27" fmla="*/ 198221 w 559472"/>
              <a:gd name="connsiteY27" fmla="*/ 982940 h 3709642"/>
              <a:gd name="connsiteX28" fmla="*/ 177152 w 559472"/>
              <a:gd name="connsiteY28" fmla="*/ 858755 h 3709642"/>
              <a:gd name="connsiteX29" fmla="*/ 155551 w 559472"/>
              <a:gd name="connsiteY29" fmla="*/ 736861 h 3709642"/>
              <a:gd name="connsiteX30" fmla="*/ 131782 w 559472"/>
              <a:gd name="connsiteY30" fmla="*/ 613645 h 3709642"/>
              <a:gd name="connsiteX31" fmla="*/ 107123 w 559472"/>
              <a:gd name="connsiteY31" fmla="*/ 490500 h 3709642"/>
              <a:gd name="connsiteX32" fmla="*/ 82552 w 559472"/>
              <a:gd name="connsiteY32" fmla="*/ 367348 h 3709642"/>
              <a:gd name="connsiteX33" fmla="*/ 55608 w 559472"/>
              <a:gd name="connsiteY33" fmla="*/ 244762 h 3709642"/>
              <a:gd name="connsiteX34" fmla="*/ 28130 w 559472"/>
              <a:gd name="connsiteY34" fmla="*/ 122220 h 3709642"/>
              <a:gd name="connsiteX35" fmla="*/ 0 w 559472"/>
              <a:gd name="connsiteY35" fmla="*/ 0 h 37096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559472" h="3709642">
                <a:moveTo>
                  <a:pt x="0" y="0"/>
                </a:moveTo>
                <a:lnTo>
                  <a:pt x="473952" y="0"/>
                </a:lnTo>
                <a:lnTo>
                  <a:pt x="485840" y="161194"/>
                </a:lnTo>
                <a:cubicBezTo>
                  <a:pt x="552063" y="1147770"/>
                  <a:pt x="592441" y="3086737"/>
                  <a:pt x="523949" y="3672197"/>
                </a:cubicBezTo>
                <a:cubicBezTo>
                  <a:pt x="500842" y="3684557"/>
                  <a:pt x="477855" y="3697282"/>
                  <a:pt x="454748" y="3709642"/>
                </a:cubicBezTo>
                <a:lnTo>
                  <a:pt x="448224" y="3510471"/>
                </a:lnTo>
                <a:lnTo>
                  <a:pt x="443564" y="3408563"/>
                </a:lnTo>
                <a:lnTo>
                  <a:pt x="438902" y="3304407"/>
                </a:lnTo>
                <a:lnTo>
                  <a:pt x="433941" y="3198777"/>
                </a:lnTo>
                <a:lnTo>
                  <a:pt x="427584" y="3092510"/>
                </a:lnTo>
                <a:lnTo>
                  <a:pt x="420988" y="2984390"/>
                </a:lnTo>
                <a:lnTo>
                  <a:pt x="414330" y="2874401"/>
                </a:lnTo>
                <a:lnTo>
                  <a:pt x="406840" y="2762980"/>
                </a:lnTo>
                <a:lnTo>
                  <a:pt x="397745" y="2650566"/>
                </a:lnTo>
                <a:lnTo>
                  <a:pt x="389154" y="2536612"/>
                </a:lnTo>
                <a:lnTo>
                  <a:pt x="379225" y="2421642"/>
                </a:lnTo>
                <a:lnTo>
                  <a:pt x="368316" y="2305627"/>
                </a:lnTo>
                <a:lnTo>
                  <a:pt x="357466" y="2189233"/>
                </a:lnTo>
                <a:lnTo>
                  <a:pt x="344982" y="2071473"/>
                </a:lnTo>
                <a:lnTo>
                  <a:pt x="332466" y="1952216"/>
                </a:lnTo>
                <a:lnTo>
                  <a:pt x="319121" y="1833776"/>
                </a:lnTo>
                <a:lnTo>
                  <a:pt x="304408" y="1713948"/>
                </a:lnTo>
                <a:lnTo>
                  <a:pt x="288685" y="1592703"/>
                </a:lnTo>
                <a:lnTo>
                  <a:pt x="273050" y="1471451"/>
                </a:lnTo>
                <a:lnTo>
                  <a:pt x="255813" y="1350328"/>
                </a:lnTo>
                <a:lnTo>
                  <a:pt x="237060" y="1227080"/>
                </a:lnTo>
                <a:lnTo>
                  <a:pt x="218488" y="1106065"/>
                </a:lnTo>
                <a:lnTo>
                  <a:pt x="198221" y="982940"/>
                </a:lnTo>
                <a:lnTo>
                  <a:pt x="177152" y="858755"/>
                </a:lnTo>
                <a:lnTo>
                  <a:pt x="155551" y="736861"/>
                </a:lnTo>
                <a:lnTo>
                  <a:pt x="131782" y="613645"/>
                </a:lnTo>
                <a:lnTo>
                  <a:pt x="107123" y="490500"/>
                </a:lnTo>
                <a:lnTo>
                  <a:pt x="82552" y="367348"/>
                </a:lnTo>
                <a:lnTo>
                  <a:pt x="55608" y="244762"/>
                </a:lnTo>
                <a:lnTo>
                  <a:pt x="28130" y="12222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6" name="Freeform: Shape 25">
            <a:extLst>
              <a:ext uri="{FF2B5EF4-FFF2-40B4-BE49-F238E27FC236}">
                <a16:creationId xmlns:a16="http://schemas.microsoft.com/office/drawing/2014/main" id="{608F427C-1EC9-4280-9367-F2B3AA063E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809954" cy="6858000"/>
          </a:xfrm>
          <a:custGeom>
            <a:avLst/>
            <a:gdLst>
              <a:gd name="connsiteX0" fmla="*/ 6465239 w 7809954"/>
              <a:gd name="connsiteY0" fmla="*/ 0 h 6858000"/>
              <a:gd name="connsiteX1" fmla="*/ 7808777 w 7809954"/>
              <a:gd name="connsiteY1" fmla="*/ 0 h 6858000"/>
              <a:gd name="connsiteX2" fmla="*/ 7783732 w 7809954"/>
              <a:gd name="connsiteY2" fmla="*/ 155676 h 6858000"/>
              <a:gd name="connsiteX3" fmla="*/ 7759863 w 7809954"/>
              <a:gd name="connsiteY3" fmla="*/ 310667 h 6858000"/>
              <a:gd name="connsiteX4" fmla="*/ 7736499 w 7809954"/>
              <a:gd name="connsiteY4" fmla="*/ 466344 h 6858000"/>
              <a:gd name="connsiteX5" fmla="*/ 7716496 w 7809954"/>
              <a:gd name="connsiteY5" fmla="*/ 622706 h 6858000"/>
              <a:gd name="connsiteX6" fmla="*/ 7696325 w 7809954"/>
              <a:gd name="connsiteY6" fmla="*/ 778383 h 6858000"/>
              <a:gd name="connsiteX7" fmla="*/ 7677499 w 7809954"/>
              <a:gd name="connsiteY7" fmla="*/ 934745 h 6858000"/>
              <a:gd name="connsiteX8" fmla="*/ 7661363 w 7809954"/>
              <a:gd name="connsiteY8" fmla="*/ 1089050 h 6858000"/>
              <a:gd name="connsiteX9" fmla="*/ 7646067 w 7809954"/>
              <a:gd name="connsiteY9" fmla="*/ 1245413 h 6858000"/>
              <a:gd name="connsiteX10" fmla="*/ 7632115 w 7809954"/>
              <a:gd name="connsiteY10" fmla="*/ 1401089 h 6858000"/>
              <a:gd name="connsiteX11" fmla="*/ 7620013 w 7809954"/>
              <a:gd name="connsiteY11" fmla="*/ 1554023 h 6858000"/>
              <a:gd name="connsiteX12" fmla="*/ 7607910 w 7809954"/>
              <a:gd name="connsiteY12" fmla="*/ 1709013 h 6858000"/>
              <a:gd name="connsiteX13" fmla="*/ 7597825 w 7809954"/>
              <a:gd name="connsiteY13" fmla="*/ 1861947 h 6858000"/>
              <a:gd name="connsiteX14" fmla="*/ 7589925 w 7809954"/>
              <a:gd name="connsiteY14" fmla="*/ 2014880 h 6858000"/>
              <a:gd name="connsiteX15" fmla="*/ 7581688 w 7809954"/>
              <a:gd name="connsiteY15" fmla="*/ 2167128 h 6858000"/>
              <a:gd name="connsiteX16" fmla="*/ 7574797 w 7809954"/>
              <a:gd name="connsiteY16" fmla="*/ 2318004 h 6858000"/>
              <a:gd name="connsiteX17" fmla="*/ 7569922 w 7809954"/>
              <a:gd name="connsiteY17" fmla="*/ 2467508 h 6858000"/>
              <a:gd name="connsiteX18" fmla="*/ 7565720 w 7809954"/>
              <a:gd name="connsiteY18" fmla="*/ 2617013 h 6858000"/>
              <a:gd name="connsiteX19" fmla="*/ 7561686 w 7809954"/>
              <a:gd name="connsiteY19" fmla="*/ 2765145 h 6858000"/>
              <a:gd name="connsiteX20" fmla="*/ 7559837 w 7809954"/>
              <a:gd name="connsiteY20" fmla="*/ 2911221 h 6858000"/>
              <a:gd name="connsiteX21" fmla="*/ 7557820 w 7809954"/>
              <a:gd name="connsiteY21" fmla="*/ 3057296 h 6858000"/>
              <a:gd name="connsiteX22" fmla="*/ 7556811 w 7809954"/>
              <a:gd name="connsiteY22" fmla="*/ 3201314 h 6858000"/>
              <a:gd name="connsiteX23" fmla="*/ 7557820 w 7809954"/>
              <a:gd name="connsiteY23" fmla="*/ 3343960 h 6858000"/>
              <a:gd name="connsiteX24" fmla="*/ 7557820 w 7809954"/>
              <a:gd name="connsiteY24" fmla="*/ 3485235 h 6858000"/>
              <a:gd name="connsiteX25" fmla="*/ 7559837 w 7809954"/>
              <a:gd name="connsiteY25" fmla="*/ 3625138 h 6858000"/>
              <a:gd name="connsiteX26" fmla="*/ 7562862 w 7809954"/>
              <a:gd name="connsiteY26" fmla="*/ 3762298 h 6858000"/>
              <a:gd name="connsiteX27" fmla="*/ 7565720 w 7809954"/>
              <a:gd name="connsiteY27" fmla="*/ 3898087 h 6858000"/>
              <a:gd name="connsiteX28" fmla="*/ 7568914 w 7809954"/>
              <a:gd name="connsiteY28" fmla="*/ 4031132 h 6858000"/>
              <a:gd name="connsiteX29" fmla="*/ 7573788 w 7809954"/>
              <a:gd name="connsiteY29" fmla="*/ 4163491 h 6858000"/>
              <a:gd name="connsiteX30" fmla="*/ 7578999 w 7809954"/>
              <a:gd name="connsiteY30" fmla="*/ 4293793 h 6858000"/>
              <a:gd name="connsiteX31" fmla="*/ 7583705 w 7809954"/>
              <a:gd name="connsiteY31" fmla="*/ 4421352 h 6858000"/>
              <a:gd name="connsiteX32" fmla="*/ 7596985 w 7809954"/>
              <a:gd name="connsiteY32" fmla="*/ 4670298 h 6858000"/>
              <a:gd name="connsiteX33" fmla="*/ 7611104 w 7809954"/>
              <a:gd name="connsiteY33" fmla="*/ 4908956 h 6858000"/>
              <a:gd name="connsiteX34" fmla="*/ 7625896 w 7809954"/>
              <a:gd name="connsiteY34" fmla="*/ 5138013 h 6858000"/>
              <a:gd name="connsiteX35" fmla="*/ 7642201 w 7809954"/>
              <a:gd name="connsiteY35" fmla="*/ 5354726 h 6858000"/>
              <a:gd name="connsiteX36" fmla="*/ 7659178 w 7809954"/>
              <a:gd name="connsiteY36" fmla="*/ 5561838 h 6858000"/>
              <a:gd name="connsiteX37" fmla="*/ 7677499 w 7809954"/>
              <a:gd name="connsiteY37" fmla="*/ 5753862 h 6858000"/>
              <a:gd name="connsiteX38" fmla="*/ 7695485 w 7809954"/>
              <a:gd name="connsiteY38" fmla="*/ 5934227 h 6858000"/>
              <a:gd name="connsiteX39" fmla="*/ 7713470 w 7809954"/>
              <a:gd name="connsiteY39" fmla="*/ 6100191 h 6858000"/>
              <a:gd name="connsiteX40" fmla="*/ 7730447 w 7809954"/>
              <a:gd name="connsiteY40" fmla="*/ 6252438 h 6858000"/>
              <a:gd name="connsiteX41" fmla="*/ 7746584 w 7809954"/>
              <a:gd name="connsiteY41" fmla="*/ 6387541 h 6858000"/>
              <a:gd name="connsiteX42" fmla="*/ 7761880 w 7809954"/>
              <a:gd name="connsiteY42" fmla="*/ 6509613 h 6858000"/>
              <a:gd name="connsiteX43" fmla="*/ 7774655 w 7809954"/>
              <a:gd name="connsiteY43" fmla="*/ 6612483 h 6858000"/>
              <a:gd name="connsiteX44" fmla="*/ 7786757 w 7809954"/>
              <a:gd name="connsiteY44" fmla="*/ 6698894 h 6858000"/>
              <a:gd name="connsiteX45" fmla="*/ 7804071 w 7809954"/>
              <a:gd name="connsiteY45" fmla="*/ 6817538 h 6858000"/>
              <a:gd name="connsiteX46" fmla="*/ 7809954 w 7809954"/>
              <a:gd name="connsiteY46" fmla="*/ 6858000 h 6858000"/>
              <a:gd name="connsiteX47" fmla="*/ 7157124 w 7809954"/>
              <a:gd name="connsiteY47" fmla="*/ 6858000 h 6858000"/>
              <a:gd name="connsiteX48" fmla="*/ 7157124 w 7809954"/>
              <a:gd name="connsiteY48" fmla="*/ 6858000 h 6858000"/>
              <a:gd name="connsiteX49" fmla="*/ 0 w 7809954"/>
              <a:gd name="connsiteY49" fmla="*/ 6858000 h 6858000"/>
              <a:gd name="connsiteX50" fmla="*/ 0 w 7809954"/>
              <a:gd name="connsiteY50" fmla="*/ 0 h 6858000"/>
              <a:gd name="connsiteX51" fmla="*/ 6465239 w 7809954"/>
              <a:gd name="connsiteY5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7809954" h="6858000">
                <a:moveTo>
                  <a:pt x="6465239" y="0"/>
                </a:moveTo>
                <a:lnTo>
                  <a:pt x="7808777" y="0"/>
                </a:lnTo>
                <a:lnTo>
                  <a:pt x="7783732" y="155676"/>
                </a:lnTo>
                <a:lnTo>
                  <a:pt x="7759863" y="310667"/>
                </a:lnTo>
                <a:lnTo>
                  <a:pt x="7736499" y="466344"/>
                </a:lnTo>
                <a:lnTo>
                  <a:pt x="7716496" y="622706"/>
                </a:lnTo>
                <a:lnTo>
                  <a:pt x="7696325" y="778383"/>
                </a:lnTo>
                <a:lnTo>
                  <a:pt x="7677499" y="934745"/>
                </a:lnTo>
                <a:lnTo>
                  <a:pt x="7661363" y="1089050"/>
                </a:lnTo>
                <a:lnTo>
                  <a:pt x="7646067" y="1245413"/>
                </a:lnTo>
                <a:lnTo>
                  <a:pt x="7632115" y="1401089"/>
                </a:lnTo>
                <a:lnTo>
                  <a:pt x="7620013" y="1554023"/>
                </a:lnTo>
                <a:lnTo>
                  <a:pt x="7607910" y="1709013"/>
                </a:lnTo>
                <a:lnTo>
                  <a:pt x="7597825" y="1861947"/>
                </a:lnTo>
                <a:lnTo>
                  <a:pt x="7589925" y="2014880"/>
                </a:lnTo>
                <a:lnTo>
                  <a:pt x="7581688" y="2167128"/>
                </a:lnTo>
                <a:lnTo>
                  <a:pt x="7574797" y="2318004"/>
                </a:lnTo>
                <a:lnTo>
                  <a:pt x="7569922" y="2467508"/>
                </a:lnTo>
                <a:lnTo>
                  <a:pt x="7565720" y="2617013"/>
                </a:lnTo>
                <a:lnTo>
                  <a:pt x="7561686" y="2765145"/>
                </a:lnTo>
                <a:lnTo>
                  <a:pt x="7559837" y="2911221"/>
                </a:lnTo>
                <a:lnTo>
                  <a:pt x="7557820" y="3057296"/>
                </a:lnTo>
                <a:lnTo>
                  <a:pt x="7556811" y="3201314"/>
                </a:lnTo>
                <a:lnTo>
                  <a:pt x="7557820" y="3343960"/>
                </a:lnTo>
                <a:lnTo>
                  <a:pt x="7557820" y="3485235"/>
                </a:lnTo>
                <a:lnTo>
                  <a:pt x="7559837" y="3625138"/>
                </a:lnTo>
                <a:lnTo>
                  <a:pt x="7562862" y="3762298"/>
                </a:lnTo>
                <a:lnTo>
                  <a:pt x="7565720" y="3898087"/>
                </a:lnTo>
                <a:lnTo>
                  <a:pt x="7568914" y="4031132"/>
                </a:lnTo>
                <a:lnTo>
                  <a:pt x="7573788" y="4163491"/>
                </a:lnTo>
                <a:lnTo>
                  <a:pt x="7578999" y="4293793"/>
                </a:lnTo>
                <a:lnTo>
                  <a:pt x="7583705" y="4421352"/>
                </a:lnTo>
                <a:lnTo>
                  <a:pt x="7596985" y="4670298"/>
                </a:lnTo>
                <a:lnTo>
                  <a:pt x="7611104" y="4908956"/>
                </a:lnTo>
                <a:lnTo>
                  <a:pt x="7625896" y="5138013"/>
                </a:lnTo>
                <a:lnTo>
                  <a:pt x="7642201" y="5354726"/>
                </a:lnTo>
                <a:lnTo>
                  <a:pt x="7659178" y="5561838"/>
                </a:lnTo>
                <a:lnTo>
                  <a:pt x="7677499" y="5753862"/>
                </a:lnTo>
                <a:lnTo>
                  <a:pt x="7695485" y="5934227"/>
                </a:lnTo>
                <a:lnTo>
                  <a:pt x="7713470" y="6100191"/>
                </a:lnTo>
                <a:lnTo>
                  <a:pt x="7730447" y="6252438"/>
                </a:lnTo>
                <a:lnTo>
                  <a:pt x="7746584" y="6387541"/>
                </a:lnTo>
                <a:lnTo>
                  <a:pt x="7761880" y="6509613"/>
                </a:lnTo>
                <a:lnTo>
                  <a:pt x="7774655" y="6612483"/>
                </a:lnTo>
                <a:lnTo>
                  <a:pt x="7786757" y="6698894"/>
                </a:lnTo>
                <a:lnTo>
                  <a:pt x="7804071" y="6817538"/>
                </a:lnTo>
                <a:lnTo>
                  <a:pt x="7809954" y="6858000"/>
                </a:lnTo>
                <a:lnTo>
                  <a:pt x="7157124" y="6858000"/>
                </a:lnTo>
                <a:lnTo>
                  <a:pt x="7157124" y="6858000"/>
                </a:lnTo>
                <a:lnTo>
                  <a:pt x="0" y="6858000"/>
                </a:lnTo>
                <a:lnTo>
                  <a:pt x="0" y="0"/>
                </a:lnTo>
                <a:lnTo>
                  <a:pt x="6465239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98810A7-E114-447A-A7D6-69B27CFB5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7C87ADD6-D59A-29E8-223D-6A1A39CC54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480" y="181402"/>
            <a:ext cx="3614443" cy="6229557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38709609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D97FF-2406-24AF-5509-46E59987E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33630"/>
          </a:xfrm>
        </p:spPr>
        <p:txBody>
          <a:bodyPr/>
          <a:lstStyle/>
          <a:p>
            <a:r>
              <a:rPr lang="en-US" dirty="0"/>
              <a:t>Example Of ACTF :</a:t>
            </a:r>
            <a:endParaRPr lang="en-S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0876AC-F599-9ACA-C97B-84E7B50A4B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504336"/>
            <a:ext cx="9404722" cy="4744064"/>
          </a:xfrm>
        </p:spPr>
        <p:txBody>
          <a:bodyPr>
            <a:normAutofit/>
          </a:bodyPr>
          <a:lstStyle/>
          <a:p>
            <a:r>
              <a:rPr lang="en-US" b="1" dirty="0"/>
              <a:t>Input Sequence:</a:t>
            </a:r>
            <a:br>
              <a:rPr lang="en-US" dirty="0"/>
            </a:br>
            <a:r>
              <a:rPr lang="en-US" dirty="0"/>
              <a:t>We’ll use two floating-point numbers for demonstration.</a:t>
            </a:r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endParaRPr lang="en-SG" dirty="0"/>
          </a:p>
          <a:p>
            <a:r>
              <a:rPr lang="en-SG" dirty="0"/>
              <a:t>1. IEEE-754 64-bit Representations</a:t>
            </a:r>
          </a:p>
          <a:p>
            <a:r>
              <a:rPr lang="en-SG" dirty="0"/>
              <a:t>V₁ (729.9): 01000000 10000110 11001111 00110011 00110011 00110011 00110011 00110011  </a:t>
            </a:r>
          </a:p>
          <a:p>
            <a:r>
              <a:rPr lang="en-SG" dirty="0"/>
              <a:t>V₂ (731.3): 01000000 10000110 11011010 01100110 01100110 01100110 01100110 01100110</a:t>
            </a:r>
          </a:p>
          <a:p>
            <a:endParaRPr lang="en-S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B4782BB-C7B2-E308-D7F9-CCDAECC300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3065698"/>
              </p:ext>
            </p:extLst>
          </p:nvPr>
        </p:nvGraphicFramePr>
        <p:xfrm>
          <a:off x="3281679" y="3048000"/>
          <a:ext cx="4236722" cy="1463043"/>
        </p:xfrm>
        <a:graphic>
          <a:graphicData uri="http://schemas.openxmlformats.org/drawingml/2006/table">
            <a:tbl>
              <a:tblPr/>
              <a:tblGrid>
                <a:gridCol w="2118361">
                  <a:extLst>
                    <a:ext uri="{9D8B030D-6E8A-4147-A177-3AD203B41FA5}">
                      <a16:colId xmlns:a16="http://schemas.microsoft.com/office/drawing/2014/main" val="1781859423"/>
                    </a:ext>
                  </a:extLst>
                </a:gridCol>
                <a:gridCol w="2118361">
                  <a:extLst>
                    <a:ext uri="{9D8B030D-6E8A-4147-A177-3AD203B41FA5}">
                      <a16:colId xmlns:a16="http://schemas.microsoft.com/office/drawing/2014/main" val="1929483390"/>
                    </a:ext>
                  </a:extLst>
                </a:gridCol>
              </a:tblGrid>
              <a:tr h="48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/>
                        <a:t>Timestamp</a:t>
                      </a: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b="1"/>
                        <a:t>Value (V)</a:t>
                      </a:r>
                      <a:endParaRPr lang="en-SG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649363"/>
                  </a:ext>
                </a:extLst>
              </a:tr>
              <a:tr h="48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729.9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5570298"/>
                  </a:ext>
                </a:extLst>
              </a:tr>
              <a:tr h="4876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SG" dirty="0"/>
                        <a:t>731.3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302569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26016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A27314-36C9-2780-7D13-26275A74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0" y="1622324"/>
            <a:ext cx="9404723" cy="4626076"/>
          </a:xfrm>
        </p:spPr>
        <p:txBody>
          <a:bodyPr>
            <a:normAutofit/>
          </a:bodyPr>
          <a:lstStyle/>
          <a:p>
            <a:r>
              <a:rPr lang="en-US" dirty="0"/>
              <a:t>2. Step-by-Step Compression (According to ACTF Algorithm)</a:t>
            </a:r>
          </a:p>
          <a:p>
            <a:r>
              <a:rPr lang="en-US" b="1" dirty="0"/>
              <a:t>Timestamp 1 → Processing V₁ = 729.9</a:t>
            </a:r>
            <a:endParaRPr lang="en-US" dirty="0"/>
          </a:p>
          <a:p>
            <a:r>
              <a:rPr lang="en-US" b="1" dirty="0"/>
              <a:t>Action: </a:t>
            </a:r>
            <a:r>
              <a:rPr lang="en-US" dirty="0"/>
              <a:t>This is the </a:t>
            </a:r>
            <a:r>
              <a:rPr lang="en-US" b="1" dirty="0"/>
              <a:t>first value</a:t>
            </a:r>
            <a:r>
              <a:rPr lang="en-US" dirty="0"/>
              <a:t>, so it is stored uncompressed.</a:t>
            </a:r>
          </a:p>
          <a:p>
            <a:r>
              <a:rPr lang="en-US" b="1" dirty="0"/>
              <a:t>State Update: V₂ (previous value) ← 729.9</a:t>
            </a:r>
          </a:p>
          <a:p>
            <a:r>
              <a:rPr lang="en-SG" dirty="0"/>
              <a:t>Output: 0100000010000110110011110011001100110011001100110011001100110011  (64 bits)</a:t>
            </a:r>
          </a:p>
          <a:p>
            <a:r>
              <a:rPr lang="en-SG" b="1" dirty="0"/>
              <a:t>Timestamp 2 → Processing V₁ = 731.3</a:t>
            </a:r>
            <a:endParaRPr lang="en-SG" dirty="0"/>
          </a:p>
          <a:p>
            <a:r>
              <a:rPr lang="en-SG" b="1" dirty="0"/>
              <a:t>Inputs:</a:t>
            </a:r>
            <a:endParaRPr lang="en-SG" dirty="0"/>
          </a:p>
          <a:p>
            <a:r>
              <a:rPr lang="en-US" dirty="0"/>
              <a:t>Current value (V₁)  = 731.3  </a:t>
            </a:r>
          </a:p>
          <a:p>
            <a:r>
              <a:rPr lang="en-US" dirty="0"/>
              <a:t>Previous value (V₂) = 729.9</a:t>
            </a:r>
          </a:p>
          <a:p>
            <a:endParaRPr lang="en-SG" dirty="0"/>
          </a:p>
          <a:p>
            <a:endParaRPr lang="en-US" dirty="0"/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5166418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4046F-6250-DBA7-76D6-4736BEF7B8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1" y="1533832"/>
            <a:ext cx="11045423" cy="4714567"/>
          </a:xfrm>
        </p:spPr>
        <p:txBody>
          <a:bodyPr>
            <a:normAutofit/>
          </a:bodyPr>
          <a:lstStyle/>
          <a:p>
            <a:r>
              <a:rPr lang="en-SG" dirty="0"/>
              <a:t>Algorithm Path:</a:t>
            </a:r>
          </a:p>
          <a:p>
            <a:r>
              <a:rPr lang="en-SG" dirty="0"/>
              <a:t>Line 2:  V₁ == V₂ ?  →  No  </a:t>
            </a:r>
          </a:p>
          <a:p>
            <a:r>
              <a:rPr lang="en-SG" dirty="0"/>
              <a:t>Line 5:  Compute XOR:  </a:t>
            </a:r>
            <a:r>
              <a:rPr lang="en-SG" dirty="0" err="1"/>
              <a:t>Xc</a:t>
            </a:r>
            <a:r>
              <a:rPr lang="en-SG" dirty="0"/>
              <a:t> = V₁ ⊕ V₂</a:t>
            </a:r>
          </a:p>
          <a:p>
            <a:r>
              <a:rPr lang="en-SG" dirty="0"/>
              <a:t>0100000010000110110011110011001100110011001100110011001100110011 (729.9)</a:t>
            </a:r>
          </a:p>
          <a:p>
            <a:r>
              <a:rPr lang="en-SG" dirty="0"/>
              <a:t>⊕</a:t>
            </a:r>
          </a:p>
          <a:p>
            <a:r>
              <a:rPr lang="en-SG" dirty="0"/>
              <a:t>0100000010000110110110100110011001100110011001100110011001100110 (731.3)=</a:t>
            </a:r>
          </a:p>
          <a:p>
            <a:r>
              <a:rPr lang="en-SG" dirty="0"/>
              <a:t>0000000000000000000101010101010101010101010101010101010101010101 (</a:t>
            </a:r>
            <a:r>
              <a:rPr lang="en-SG" dirty="0" err="1"/>
              <a:t>Xc</a:t>
            </a:r>
            <a:r>
              <a:rPr lang="en-SG" dirty="0"/>
              <a:t>)</a:t>
            </a:r>
          </a:p>
          <a:p>
            <a:r>
              <a:rPr lang="en-US" dirty="0"/>
              <a:t>Calculate Counts for </a:t>
            </a:r>
            <a:r>
              <a:rPr lang="en-US" dirty="0" err="1"/>
              <a:t>Xc</a:t>
            </a:r>
            <a:r>
              <a:rPr lang="en-US" dirty="0"/>
              <a:t>:   </a:t>
            </a:r>
          </a:p>
          <a:p>
            <a:r>
              <a:rPr lang="en-US" dirty="0"/>
              <a:t> </a:t>
            </a:r>
            <a:r>
              <a:rPr lang="en-US" dirty="0" err="1"/>
              <a:t>L_count</a:t>
            </a:r>
            <a:r>
              <a:rPr lang="en-US" dirty="0"/>
              <a:t> (leading zeros) = 19    </a:t>
            </a:r>
          </a:p>
          <a:p>
            <a:r>
              <a:rPr lang="en-US" dirty="0" err="1"/>
              <a:t>T_count</a:t>
            </a:r>
            <a:r>
              <a:rPr lang="en-US" dirty="0"/>
              <a:t> (trailing zeros) = 0    </a:t>
            </a:r>
          </a:p>
          <a:p>
            <a:r>
              <a:rPr lang="en-US" dirty="0" err="1"/>
              <a:t>C_count</a:t>
            </a:r>
            <a:r>
              <a:rPr lang="en-US" dirty="0"/>
              <a:t> (center bits) = 64 - 19 - 0 = 45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169768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C219D9-EB41-BDA6-D102-24A16AE6A8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582994"/>
            <a:ext cx="9404722" cy="4665405"/>
          </a:xfrm>
        </p:spPr>
        <p:txBody>
          <a:bodyPr>
            <a:normAutofit lnSpcReduction="10000"/>
          </a:bodyPr>
          <a:lstStyle/>
          <a:p>
            <a:r>
              <a:rPr lang="en-SG" dirty="0"/>
              <a:t>Branch Decision:</a:t>
            </a:r>
          </a:p>
          <a:p>
            <a:r>
              <a:rPr lang="en-US" dirty="0"/>
              <a:t>Line 8:   </a:t>
            </a:r>
            <a:r>
              <a:rPr lang="en-US" dirty="0" err="1"/>
              <a:t>T_count</a:t>
            </a:r>
            <a:r>
              <a:rPr lang="en-US" dirty="0"/>
              <a:t> ≥ 6 ?  →  No (0 &lt; 6)</a:t>
            </a:r>
          </a:p>
          <a:p>
            <a:r>
              <a:rPr lang="en-US" dirty="0"/>
              <a:t>Line 27:  Proceed to else block</a:t>
            </a:r>
          </a:p>
          <a:p>
            <a:r>
              <a:rPr lang="en-US" dirty="0"/>
              <a:t>Line 28:  </a:t>
            </a:r>
            <a:r>
              <a:rPr lang="en-US" dirty="0" err="1"/>
              <a:t>L_count_c</a:t>
            </a:r>
            <a:r>
              <a:rPr lang="en-US" dirty="0"/>
              <a:t> == </a:t>
            </a:r>
            <a:r>
              <a:rPr lang="en-US" dirty="0" err="1"/>
              <a:t>L_count_p</a:t>
            </a:r>
            <a:r>
              <a:rPr lang="en-US" dirty="0"/>
              <a:t> ?  →  First XOR → Assume False</a:t>
            </a:r>
          </a:p>
          <a:p>
            <a:r>
              <a:rPr lang="en-US" dirty="0"/>
              <a:t>Line 32:  Write flag bits: ‘11’</a:t>
            </a:r>
          </a:p>
          <a:p>
            <a:r>
              <a:rPr lang="en-US" dirty="0"/>
              <a:t>Line 33:  Write encoded L (3 bits): 19 → 101</a:t>
            </a:r>
          </a:p>
          <a:p>
            <a:r>
              <a:rPr lang="en-US" dirty="0"/>
              <a:t>Line 34:  Write </a:t>
            </a:r>
            <a:r>
              <a:rPr lang="en-US" dirty="0" err="1"/>
              <a:t>Xc’s</a:t>
            </a:r>
            <a:r>
              <a:rPr lang="en-US" dirty="0"/>
              <a:t> significant bits: 45 bits (from position 19 onward)</a:t>
            </a:r>
          </a:p>
          <a:p>
            <a:r>
              <a:rPr lang="en-SG" dirty="0"/>
              <a:t>State Update:</a:t>
            </a:r>
          </a:p>
          <a:p>
            <a:r>
              <a:rPr lang="en-US" dirty="0" err="1"/>
              <a:t>Xp</a:t>
            </a:r>
            <a:r>
              <a:rPr lang="en-US" dirty="0"/>
              <a:t> ← current </a:t>
            </a:r>
            <a:r>
              <a:rPr lang="en-US" dirty="0" err="1"/>
              <a:t>Xc</a:t>
            </a:r>
            <a:r>
              <a:rPr lang="en-US" dirty="0"/>
              <a:t>  </a:t>
            </a:r>
          </a:p>
          <a:p>
            <a:r>
              <a:rPr lang="en-US" dirty="0"/>
              <a:t>V₂ ← 731.3  </a:t>
            </a:r>
          </a:p>
          <a:p>
            <a:r>
              <a:rPr lang="en-US" dirty="0" err="1"/>
              <a:t>L_count_p</a:t>
            </a:r>
            <a:r>
              <a:rPr lang="en-US" dirty="0"/>
              <a:t> ← 19</a:t>
            </a:r>
          </a:p>
          <a:p>
            <a:pPr marL="0" indent="0">
              <a:buNone/>
            </a:pP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4718239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20A47-D54F-DC3C-96EB-5D3BBD5CC5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132" y="1750142"/>
            <a:ext cx="9404722" cy="4498257"/>
          </a:xfrm>
        </p:spPr>
        <p:txBody>
          <a:bodyPr>
            <a:normAutofit/>
          </a:bodyPr>
          <a:lstStyle/>
          <a:p>
            <a:r>
              <a:rPr lang="en-US" dirty="0"/>
              <a:t>Output Bitstream (for 2nd value):</a:t>
            </a:r>
          </a:p>
          <a:p>
            <a:r>
              <a:rPr lang="en-US" dirty="0"/>
              <a:t>Control bits:   11  </a:t>
            </a:r>
          </a:p>
          <a:p>
            <a:r>
              <a:rPr lang="en-US" dirty="0"/>
              <a:t>Encoded L:      101  </a:t>
            </a:r>
          </a:p>
          <a:p>
            <a:r>
              <a:rPr lang="en-US" dirty="0"/>
              <a:t>Center bits:    010101010101010101010101010101010101010101010</a:t>
            </a:r>
          </a:p>
          <a:p>
            <a:r>
              <a:rPr lang="en-US" dirty="0"/>
              <a:t>Total bits: 2 + 3 + 45 = 50 bits</a:t>
            </a:r>
          </a:p>
          <a:p>
            <a:r>
              <a:rPr lang="en-US" dirty="0"/>
              <a:t>Final ACTF Compressed Stream Summary :</a:t>
            </a:r>
          </a:p>
          <a:p>
            <a:r>
              <a:rPr lang="en-US" dirty="0"/>
              <a:t>First value (V₁ = 729.9):   64 bits  </a:t>
            </a:r>
          </a:p>
          <a:p>
            <a:r>
              <a:rPr lang="en-US" dirty="0"/>
              <a:t>Second value (V₂ = 731.3):  50 bits  </a:t>
            </a:r>
          </a:p>
          <a:p>
            <a:r>
              <a:rPr lang="en-US" dirty="0"/>
              <a:t>Total compressed length:    114 bits (vs 128 bits raw!)</a:t>
            </a:r>
          </a:p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20557925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E3F14-9AE6-4BEB-9AF2-6247D8FB7A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5E4C67-76A8-F565-45F4-E32F06A0B9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Gorilla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E2D137-6D22-3DCC-6914-ECFAD855E6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5702" y="1972965"/>
            <a:ext cx="4396341" cy="4200245"/>
          </a:xfrm>
        </p:spPr>
        <p:txBody>
          <a:bodyPr/>
          <a:lstStyle/>
          <a:p>
            <a:r>
              <a:rPr lang="en-US" dirty="0"/>
              <a:t>Chimp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B19CCF-D4E0-66E2-3B6E-E0A252B98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75" y="3045714"/>
            <a:ext cx="5692017" cy="1578241"/>
          </a:xfrm>
          <a:prstGeom prst="rect">
            <a:avLst/>
          </a:prstGeom>
        </p:spPr>
      </p:pic>
      <p:pic>
        <p:nvPicPr>
          <p:cNvPr id="7" name="Image 15">
            <a:extLst>
              <a:ext uri="{FF2B5EF4-FFF2-40B4-BE49-F238E27FC236}">
                <a16:creationId xmlns:a16="http://schemas.microsoft.com/office/drawing/2014/main" id="{478E253D-8A46-1464-4D75-398709600FF8}"/>
              </a:ext>
            </a:extLst>
          </p:cNvPr>
          <p:cNvPicPr>
            <a:picLocks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096000" y="2494846"/>
            <a:ext cx="5927725" cy="339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99294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1425DA-671D-5E41-2A4E-4E5823E1D5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ACTF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Image 22">
            <a:extLst>
              <a:ext uri="{FF2B5EF4-FFF2-40B4-BE49-F238E27FC236}">
                <a16:creationId xmlns:a16="http://schemas.microsoft.com/office/drawing/2014/main" id="{46187053-E242-2EA7-B693-FFEF0CE22FC6}"/>
              </a:ext>
            </a:extLst>
          </p:cNvPr>
          <p:cNvPicPr>
            <a:picLocks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669136" y="2715923"/>
            <a:ext cx="6682682" cy="369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355454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15310-0F75-AEF8-9E35-C2E83953B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9097" y="452718"/>
            <a:ext cx="9411737" cy="1064565"/>
          </a:xfrm>
        </p:spPr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60A813-4C5E-01E8-EA7F-8C04CE15756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199" y="1517283"/>
            <a:ext cx="10714704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ACTF algorithm provides significantly better compression ratios and speed compared to existing techniques like Chimp and Gorilla for floating-point time series, as demonstrated in experimental studies.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Existing algorithms are fast but leave space savings on the table due to limited flag structures and underutilization of recurring patterns and zero runs.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ACTF introduces smarter preprocessing and new encoding branches, which efficiently handle repeated values and adaptive bit allocation.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As a result, ACTF offers lossless compression, faster (de)compression time, and greater space efficiency in real-world scenarios.</a:t>
            </a: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q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By directly addressing the limitations of Chimp and Gorilla, ACTF is shown to be a superior method for time series floating-point data compression.</a:t>
            </a:r>
          </a:p>
        </p:txBody>
      </p:sp>
    </p:spTree>
    <p:extLst>
      <p:ext uri="{BB962C8B-B14F-4D97-AF65-F5344CB8AC3E}">
        <p14:creationId xmlns:p14="http://schemas.microsoft.com/office/powerpoint/2010/main" val="179791476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</TotalTime>
  <Words>1520</Words>
  <Application>Microsoft Office PowerPoint</Application>
  <PresentationFormat>Widescreen</PresentationFormat>
  <Paragraphs>198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Book Antiqua</vt:lpstr>
      <vt:lpstr>Century Gothic</vt:lpstr>
      <vt:lpstr>Wingdings</vt:lpstr>
      <vt:lpstr>Wingdings 3</vt:lpstr>
      <vt:lpstr>Ion</vt:lpstr>
      <vt:lpstr>ACTF: An Efficient Lossless Compression Algorithm for Time Series Floating Point Data</vt:lpstr>
      <vt:lpstr> Abstract</vt:lpstr>
      <vt:lpstr>Existing Methodology</vt:lpstr>
      <vt:lpstr>Limitations of Existing Work</vt:lpstr>
      <vt:lpstr>WORK FLOW OF EXISTING</vt:lpstr>
      <vt:lpstr>Algorithm of Gorilla</vt:lpstr>
      <vt:lpstr>Example of Gorilla </vt:lpstr>
      <vt:lpstr>PowerPoint Presentation</vt:lpstr>
      <vt:lpstr>PowerPoint Presentation</vt:lpstr>
      <vt:lpstr>Algorithm of Chimp</vt:lpstr>
      <vt:lpstr>Example Of Chimp </vt:lpstr>
      <vt:lpstr>PowerPoint Presentation</vt:lpstr>
      <vt:lpstr>Proposed Methodology (ACTF)</vt:lpstr>
      <vt:lpstr>COMPRESSION WORKFLOW OF ACTF</vt:lpstr>
      <vt:lpstr>DECOMPRESSION OF ACTF</vt:lpstr>
      <vt:lpstr>Alogorithm of ACTF :</vt:lpstr>
      <vt:lpstr>Example Of ACTF :</vt:lpstr>
      <vt:lpstr>PowerPoint Presentation</vt:lpstr>
      <vt:lpstr>PowerPoint Presentation</vt:lpstr>
      <vt:lpstr>PowerPoint Presentation</vt:lpstr>
      <vt:lpstr>PowerPoint Presentation</vt:lpstr>
      <vt:lpstr>RESULT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Sujitha T</dc:creator>
  <cp:lastModifiedBy>haritharavichander@gmail.com</cp:lastModifiedBy>
  <cp:revision>6</cp:revision>
  <dcterms:created xsi:type="dcterms:W3CDTF">2025-09-15T04:49:39Z</dcterms:created>
  <dcterms:modified xsi:type="dcterms:W3CDTF">2025-11-13T04:13:06Z</dcterms:modified>
</cp:coreProperties>
</file>